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7" r:id="rId7"/>
    <p:sldId id="262" r:id="rId8"/>
    <p:sldId id="263" r:id="rId9"/>
    <p:sldId id="269" r:id="rId10"/>
    <p:sldId id="268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761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924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709" y="197355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9052560" y="-1371600"/>
            <a:ext cx="4754880" cy="4754880"/>
          </a:xfrm>
          <a:prstGeom prst="ellipse">
            <a:avLst/>
          </a:prstGeom>
          <a:noFill/>
          <a:ln w="17780">
            <a:solidFill>
              <a:srgbClr val="1E1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3108960"/>
            <a:ext cx="3291840" cy="3291840"/>
          </a:xfrm>
          <a:prstGeom prst="ellipse">
            <a:avLst/>
          </a:prstGeom>
          <a:noFill/>
          <a:ln w="17780">
            <a:solidFill>
              <a:srgbClr val="1E1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79" y="1481328"/>
            <a:ext cx="9686109" cy="650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Multi-Stream Speech to Text Extraction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076656" y="4411974"/>
            <a:ext cx="4038382" cy="59337"/>
          </a:xfrm>
          <a:prstGeom prst="rect">
            <a:avLst/>
          </a:prstGeom>
          <a:solidFill>
            <a:srgbClr val="A5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AE8351-E8B4-2592-4805-B79CC40E8C65}"/>
              </a:ext>
            </a:extLst>
          </p:cNvPr>
          <p:cNvSpPr txBox="1"/>
          <p:nvPr/>
        </p:nvSpPr>
        <p:spPr>
          <a:xfrm>
            <a:off x="1105118" y="4684174"/>
            <a:ext cx="9686109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Sana Ullah &amp; Muhammad Waqas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Mr. Muhammad Nouman &amp; Eng Ashan Ahmad</a:t>
            </a:r>
          </a:p>
        </p:txBody>
      </p:sp>
      <p:pic>
        <p:nvPicPr>
          <p:cNvPr id="12" name="Google Shape;28;p110" descr="A logo with a tower and a moon&#10;&#10;Description automatically generated">
            <a:extLst>
              <a:ext uri="{FF2B5EF4-FFF2-40B4-BE49-F238E27FC236}">
                <a16:creationId xmlns:a16="http://schemas.microsoft.com/office/drawing/2014/main" id="{5D458BE3-8700-A3E6-B276-5DF8644661D4}"/>
              </a:ext>
            </a:extLst>
          </p:cNvPr>
          <p:cNvPicPr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11422" y="3057152"/>
            <a:ext cx="3873500" cy="938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57680" y="-3703321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F46E5"/>
                </a:solidFill>
                <a:latin typeface="Segoe U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72A"/>
                </a:solidFill>
                <a:latin typeface="Segoe UI"/>
              </a:rPr>
              <a:t>What the project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25296"/>
            <a:ext cx="105156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to text means automatically converting spoken audio into written text. It is easy for one short clip, but much harder when you have a whole folder of recordings, such as 30 interviews, meetings or phone calls, in different formats and lengths.</a:t>
            </a:r>
            <a:endParaRPr sz="1400" b="0" i="0" dirty="0">
              <a:solidFill>
                <a:srgbClr val="647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2121408"/>
            <a:ext cx="3529584" cy="206654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2121408"/>
            <a:ext cx="3529584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304288"/>
            <a:ext cx="3127248" cy="1755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 dirty="0">
                <a:solidFill>
                  <a:srgbClr val="0F172A"/>
                </a:solidFill>
                <a:latin typeface="Segoe UI"/>
              </a:rPr>
              <a:t>Input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64748B"/>
                </a:solidFill>
                <a:latin typeface="Segoe UI"/>
              </a:rPr>
              <a:t>Up to 30 files per run (MAX_FILES = 30)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64748B"/>
                </a:solidFill>
                <a:latin typeface="Segoe UI"/>
              </a:rPr>
              <a:t>18 container / codec extensions: mp4, mov, </a:t>
            </a:r>
            <a:r>
              <a:rPr sz="1150" b="0" i="0" dirty="0" err="1">
                <a:solidFill>
                  <a:srgbClr val="64748B"/>
                </a:solidFill>
                <a:latin typeface="Segoe UI"/>
              </a:rPr>
              <a:t>mkv</a:t>
            </a:r>
            <a:r>
              <a:rPr sz="1150" b="0" i="0" dirty="0">
                <a:solidFill>
                  <a:srgbClr val="64748B"/>
                </a:solidFill>
                <a:latin typeface="Segoe UI"/>
              </a:rPr>
              <a:t>, avi, </a:t>
            </a:r>
            <a:r>
              <a:rPr sz="1150" b="0" i="0" dirty="0" err="1">
                <a:solidFill>
                  <a:srgbClr val="64748B"/>
                </a:solidFill>
                <a:latin typeface="Segoe UI"/>
              </a:rPr>
              <a:t>webm</a:t>
            </a:r>
            <a:r>
              <a:rPr sz="1150" b="0" i="0" dirty="0">
                <a:solidFill>
                  <a:srgbClr val="64748B"/>
                </a:solidFill>
                <a:latin typeface="Segoe UI"/>
              </a:rPr>
              <a:t>, </a:t>
            </a:r>
            <a:r>
              <a:rPr sz="1150" b="0" i="0" dirty="0" err="1">
                <a:solidFill>
                  <a:srgbClr val="64748B"/>
                </a:solidFill>
                <a:latin typeface="Segoe UI"/>
              </a:rPr>
              <a:t>flv</a:t>
            </a:r>
            <a:r>
              <a:rPr sz="1150" b="0" i="0" dirty="0">
                <a:solidFill>
                  <a:srgbClr val="64748B"/>
                </a:solidFill>
                <a:latin typeface="Segoe UI"/>
              </a:rPr>
              <a:t>, m4v, </a:t>
            </a:r>
            <a:r>
              <a:rPr sz="1150" b="0" i="0" dirty="0" err="1">
                <a:solidFill>
                  <a:srgbClr val="64748B"/>
                </a:solidFill>
                <a:latin typeface="Segoe UI"/>
              </a:rPr>
              <a:t>wmv</a:t>
            </a:r>
            <a:r>
              <a:rPr sz="1150" b="0" i="0" dirty="0">
                <a:solidFill>
                  <a:srgbClr val="64748B"/>
                </a:solidFill>
                <a:latin typeface="Segoe UI"/>
              </a:rPr>
              <a:t>, </a:t>
            </a:r>
            <a:r>
              <a:rPr sz="1150" b="0" i="0" dirty="0" err="1">
                <a:solidFill>
                  <a:srgbClr val="64748B"/>
                </a:solidFill>
                <a:latin typeface="Segoe UI"/>
              </a:rPr>
              <a:t>ts</a:t>
            </a:r>
            <a:r>
              <a:rPr sz="1150" b="0" i="0" dirty="0">
                <a:solidFill>
                  <a:srgbClr val="64748B"/>
                </a:solidFill>
                <a:latin typeface="Segoe UI"/>
              </a:rPr>
              <a:t>, wav, mp3, m4a, </a:t>
            </a:r>
            <a:r>
              <a:rPr sz="1150" b="0" i="0" dirty="0" err="1">
                <a:solidFill>
                  <a:srgbClr val="64748B"/>
                </a:solidFill>
                <a:latin typeface="Segoe UI"/>
              </a:rPr>
              <a:t>aac</a:t>
            </a:r>
            <a:r>
              <a:rPr sz="1150" b="0" i="0" dirty="0">
                <a:solidFill>
                  <a:srgbClr val="64748B"/>
                </a:solidFill>
                <a:latin typeface="Segoe UI"/>
              </a:rPr>
              <a:t>, </a:t>
            </a:r>
            <a:r>
              <a:rPr sz="1150" b="0" i="0" dirty="0" err="1">
                <a:solidFill>
                  <a:srgbClr val="64748B"/>
                </a:solidFill>
                <a:latin typeface="Segoe UI"/>
              </a:rPr>
              <a:t>flac</a:t>
            </a:r>
            <a:r>
              <a:rPr sz="1150" b="0" i="0" dirty="0">
                <a:solidFill>
                  <a:srgbClr val="64748B"/>
                </a:solidFill>
                <a:latin typeface="Segoe UI"/>
              </a:rPr>
              <a:t>, </a:t>
            </a:r>
            <a:r>
              <a:rPr sz="1150" b="0" i="0" dirty="0" err="1">
                <a:solidFill>
                  <a:srgbClr val="64748B"/>
                </a:solidFill>
                <a:latin typeface="Segoe UI"/>
              </a:rPr>
              <a:t>ogg</a:t>
            </a:r>
            <a:r>
              <a:rPr sz="1150" b="0" i="0" dirty="0">
                <a:solidFill>
                  <a:srgbClr val="64748B"/>
                </a:solidFill>
                <a:latin typeface="Segoe UI"/>
              </a:rPr>
              <a:t>, opus, </a:t>
            </a:r>
            <a:r>
              <a:rPr sz="1150" b="0" i="0" dirty="0" err="1">
                <a:solidFill>
                  <a:srgbClr val="64748B"/>
                </a:solidFill>
                <a:latin typeface="Segoe UI"/>
              </a:rPr>
              <a:t>wma</a:t>
            </a:r>
            <a:endParaRPr sz="1150" b="0" i="0" dirty="0">
              <a:solidFill>
                <a:srgbClr val="64748B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64748B"/>
                </a:solidFill>
                <a:latin typeface="Segoe UI"/>
              </a:rPr>
              <a:t>Browser upload, or “Folder on this PC” – read files in place, no copy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2121408"/>
            <a:ext cx="3529584" cy="206654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25112" y="2121408"/>
            <a:ext cx="3529584" cy="5029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304288"/>
            <a:ext cx="3127248" cy="1755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Processing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Parakeet-TDT 0.6B v3 → words + timestamps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Streaming Sortformer 4spk v2.1 → who spoke when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Both models stay loaded once for the whole run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Everything at 16 kHz mono (SAMPLE_RATE = 16000)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2121408"/>
            <a:ext cx="3529584" cy="206654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2121408"/>
            <a:ext cx="3529584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2304288"/>
            <a:ext cx="3127248" cy="1755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Output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Per file: TXT with [HH:MM:SS.ss - HH:MM:SS.ss] speaker: text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Per file: SRT subtitles, speaker-tagged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One ZIP with every transcript · performance_report.csv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Saved to outputs/&lt;date-time&gt;/ as well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498848"/>
            <a:ext cx="11055096" cy="5029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6684264"/>
            <a:ext cx="82296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MultiStream STT Studio — Parakeet V3 + Sortformer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684264"/>
            <a:ext cx="658368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F46E5"/>
                </a:solidFill>
                <a:latin typeface="Segoe UI"/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D9A7DF-4B01-5536-7B77-7221788F979A}"/>
              </a:ext>
            </a:extLst>
          </p:cNvPr>
          <p:cNvSpPr txBox="1"/>
          <p:nvPr/>
        </p:nvSpPr>
        <p:spPr>
          <a:xfrm>
            <a:off x="384048" y="4776061"/>
            <a:ext cx="11064240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MultiStream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STT Studio, solves that. It takes up to 30 video or audio files at once and transcribes each one with word-level timestamps. It also works out who is speaking, so every line of the transcript is labelled with a speaker,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speaker_0: hi there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two NVIDIA models:     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Parakeet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words and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Sortformer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speakers.</a:t>
            </a:r>
            <a:endParaRPr sz="1400" b="0" i="0" dirty="0">
              <a:solidFill>
                <a:srgbClr val="647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A5E9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900" b="1" i="0" dirty="0">
                <a:solidFill>
                  <a:srgbClr val="0F172A"/>
                </a:solidFill>
                <a:latin typeface="Segoe UI"/>
              </a:rPr>
              <a:t>Methodology :</a:t>
            </a:r>
            <a:r>
              <a:rPr sz="2900" b="1" i="0" dirty="0">
                <a:solidFill>
                  <a:srgbClr val="0F172A"/>
                </a:solidFill>
                <a:latin typeface="Segoe UI"/>
              </a:rPr>
              <a:t>The five-stage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25296"/>
            <a:ext cx="1051560" cy="4114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2084831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2084831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1737360"/>
            <a:ext cx="179222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1  PROBE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Read every file's length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ffmpeg reads the header only – instant.
A thread pool probes all files at once.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60320" y="2542032"/>
            <a:ext cx="219456" cy="256032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16352" y="1572768"/>
            <a:ext cx="2084831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16352" y="1572768"/>
            <a:ext cx="2084831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62656" y="1737360"/>
            <a:ext cx="179222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</a:rPr>
              <a:t>2  BATCH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Sort by length → batches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Longest first; similar lengths share a batch.
Cost = files × longest file ≤ GPU limit.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19472" y="2542032"/>
            <a:ext cx="219456" cy="256032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75504" y="1572768"/>
            <a:ext cx="2084831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75504" y="1572768"/>
            <a:ext cx="2084831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21808" y="1737360"/>
            <a:ext cx="179222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891B2"/>
                </a:solidFill>
                <a:latin typeface="Segoe UI"/>
              </a:rPr>
              <a:t>3  EXTRACT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ffmpeg → 16 kHz mono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Up to 8 decode workers, running up to
2.0 batches ahead of the GPU.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278624" y="2542032"/>
            <a:ext cx="219456" cy="256032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534656" y="1572768"/>
            <a:ext cx="2084831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34656" y="1572768"/>
            <a:ext cx="2084831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0" y="1737360"/>
            <a:ext cx="179222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7C3AED"/>
                </a:solidFill>
                <a:latin typeface="Segoe UI"/>
              </a:rPr>
              <a:t>4  GPU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Parakeet → Sortformer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Per batch: words with timestamps first,
then speaker segments. One batch at a time.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637776" y="2542032"/>
            <a:ext cx="219456" cy="256032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893808" y="1572768"/>
            <a:ext cx="2084831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893808" y="1572768"/>
            <a:ext cx="2084831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40112" y="1737360"/>
            <a:ext cx="179222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5  ALIGN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172A"/>
                </a:solidFill>
                <a:latin typeface="Segoe UI"/>
              </a:rPr>
              <a:t>Words → speaker turns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Each word takes the speaker it overlaps most;
TXT + SRT written while the GPU works.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82312"/>
            <a:ext cx="11274552" cy="457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665683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6684264"/>
            <a:ext cx="82296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MultiStream STT Studio — Parakeet V3 + Sortformer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684264"/>
            <a:ext cx="658368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F46E5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F46E5"/>
                </a:solidFill>
                <a:latin typeface="Segoe UI"/>
              </a:rPr>
              <a:t>MODEL 1 — SPEECH TO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72A"/>
                </a:solidFill>
                <a:latin typeface="Segoe UI"/>
              </a:rPr>
              <a:t>Parakeet-TDT 0.6B v3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25296"/>
            <a:ext cx="105156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4F46E5"/>
                </a:solidFill>
                <a:latin typeface="Consolas"/>
              </a:rPr>
              <a:t>nvidia/parakeet-tdt-0.6b-v3</a:t>
            </a:r>
            <a:r>
              <a:rPr sz="1250" b="0">
                <a:solidFill>
                  <a:srgbClr val="64748B"/>
                </a:solidFill>
                <a:latin typeface="Segoe UI"/>
              </a:rPr>
              <a:t>   —   a 0.6B-parameter Token-and-Duration Transducer ASR model, loaded once with NeMo and kept in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83664"/>
            <a:ext cx="3529584" cy="18470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883664"/>
            <a:ext cx="3529584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066544"/>
            <a:ext cx="3127248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What it produces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Word-level timestamps — each word carries start and end time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Called once per batch: asr.transcribe(audios, batch_size=len(audios), timestamps=True)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Runs under torch.inference_mode() with no gradient 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883664"/>
            <a:ext cx="3529584" cy="18470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25112" y="1883664"/>
            <a:ext cx="3529584" cy="5029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066544"/>
            <a:ext cx="3127248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Precision &amp; speed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</a:rPr>
              <a:t>bf16 autocast on GPUs that support it: faster, less memory (ASR_BF16; MSTT_BF16=0 turns it off)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</a:rPr>
              <a:t>If bf16 ever raises, the engine warns, drops to fp32 and retries — automatically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</a:rPr>
              <a:t>Shown on the page as “bf16 (Parakeet) + fp32 (Sortformer)” or “fp32”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883664"/>
            <a:ext cx="3529584" cy="18470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1883664"/>
            <a:ext cx="3529584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2066544"/>
            <a:ext cx="3127248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Long recordings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</a:rPr>
              <a:t>Below LONG_AUDIO_SEC = 1200 s (20 min): full attention rel_pos [-1, -1]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</a:rPr>
              <a:t>Above: local attention rel_pos_local_attn [256, 256] + conv chunking factor 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</a:rPr>
              <a:t>Switched per batch — long files never blow up GPU memory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968496"/>
            <a:ext cx="11055096" cy="457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4114800"/>
            <a:ext cx="110642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Why this model fits the design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0F172A"/>
                </a:solidFill>
                <a:latin typeface="Segoe UI"/>
              </a:rPr>
              <a:t>▪  Native batch transcription — one call covers every file in the batch, which is what makes 30-file runs practical.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0F172A"/>
                </a:solidFill>
                <a:latin typeface="Segoe UI"/>
              </a:rPr>
              <a:t>▪  Word timestamps are the raw material for diarization: the speaker step later assigns each word to a speaker, so word-level timing is mandatory, not a nice-to-have.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0F172A"/>
                </a:solidFill>
                <a:latin typeface="Segoe UI"/>
              </a:rPr>
              <a:t>▪  Its 20-minute attention switch is the reason very long recordings can sit in the same pipeline as short clips.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0F172A"/>
                </a:solidFill>
                <a:latin typeface="Segoe UI"/>
              </a:rPr>
              <a:t>▪  Language coverage is a hard boundary: 25 European languages are supported; Urdu, Hindi, Arabic and most Asian languages are not, and produce wrong text (see the Limits slide).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6684264"/>
            <a:ext cx="82296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MultiStream STT Studio — Parakeet V3 + Sortformer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684264"/>
            <a:ext cx="658368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F46E5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3AED"/>
                </a:solidFill>
                <a:latin typeface="Segoe UI"/>
              </a:rPr>
              <a:t>MODEL 2 — WHO SPOKE WHEN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72A"/>
                </a:solidFill>
                <a:latin typeface="Segoe UI"/>
              </a:rPr>
              <a:t>Sortformer diarization + word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25296"/>
            <a:ext cx="1051560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83664"/>
            <a:ext cx="3529584" cy="17739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883664"/>
            <a:ext cx="3529584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066544"/>
            <a:ext cx="3127248" cy="146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Diarization step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diar.diarize(audio=audios, batch_size=len(audios), sample_rate=16000)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If that NeMo build does not support batching, the engine falls back to one file at a time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Returns segments as strings:  0.080 3.600 speaker_0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883664"/>
            <a:ext cx="3529584" cy="17739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25112" y="1883664"/>
            <a:ext cx="3529584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066544"/>
            <a:ext cx="3127248" cy="146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Word → speaker assignment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Each word goes to the speaker segment it overlaps the most (positive overlap wins)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No positive overlap → the word inherits the previous speaker, else UNKNOWN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Overlap is computed vectorised over 2048-word chunks (mstt/alignment.py)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883664"/>
            <a:ext cx="3529584" cy="17739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1883664"/>
            <a:ext cx="3529584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2066544"/>
            <a:ext cx="3127248" cy="146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172A"/>
                </a:solidFill>
                <a:latin typeface="Segoe UI"/>
              </a:rPr>
              <a:t>Turn building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Consecutive words from one speaker become one turn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A speaker change starts a new turn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A pause longer than SILENCE_GAP = 0.8 s also starts a new turn (adjustable 0.2–3.0 s in the sidebar)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895344"/>
            <a:ext cx="11055096" cy="457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4041648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From two model outputs to one labelled transcript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43984"/>
            <a:ext cx="202996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4F46E5"/>
                </a:solidFill>
                <a:latin typeface="Segoe UI"/>
              </a:rPr>
              <a:t>Parakeet words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onsolas"/>
              </a:rPr>
              <a:t>“hi” 0.0–0.5   “there” 0.6–1.0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633472" y="4928616"/>
            <a:ext cx="256032" cy="237744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889504" y="4443984"/>
            <a:ext cx="202996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7C3AED"/>
                </a:solidFill>
                <a:latin typeface="Segoe UI"/>
              </a:rPr>
              <a:t>Sortformer segments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onsolas"/>
              </a:rPr>
              <a:t>speaker_0  0.080–3.600
speaker_1  4.000–6.000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956048" y="4928616"/>
            <a:ext cx="256032" cy="237744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212080" y="4443984"/>
            <a:ext cx="202996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A5E9"/>
                </a:solidFill>
                <a:latin typeface="Segoe UI"/>
              </a:rPr>
              <a:t>Overlap match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onsolas"/>
              </a:rPr>
              <a:t>each word → the speaker it
overlaps most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278624" y="4928616"/>
            <a:ext cx="256032" cy="237744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534656" y="4443984"/>
            <a:ext cx="202996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0B981"/>
                </a:solidFill>
                <a:latin typeface="Segoe UI"/>
              </a:rPr>
              <a:t>Merge into turns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onsolas"/>
              </a:rPr>
              <a:t>same speaker + gap ≤ 0.8 s
→ one turn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601200" y="4928616"/>
            <a:ext cx="256032" cy="237744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857232" y="4443984"/>
            <a:ext cx="202996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891B2"/>
                </a:solidFill>
                <a:latin typeface="Segoe UI"/>
              </a:rPr>
              <a:t>TXT + SRT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onsolas"/>
              </a:rPr>
              <a:t>[00:00:00.00 - 00:00:02.50]
speaker_0: hi there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797296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Example from the test suite:  </a:t>
            </a:r>
            <a:r>
              <a:rPr sz="1150" b="0">
                <a:solidFill>
                  <a:srgbClr val="64748B"/>
                </a:solidFill>
                <a:latin typeface="Segoe UI"/>
              </a:rPr>
              <a:t>words “hi, there, yes, later” with segments A[0–3 s] and B[4–6 s] produce A: “hi there”, B: “yes” then B: “later” — the 4.4-second silence splits the last turn.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Segoe UI"/>
              </a:rPr>
              <a:t>Talk time per speaker and a coloured “who speaks when” timeline are computed for the UI (mstt/report.py).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6684264"/>
            <a:ext cx="82296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MultiStream STT Studio — Parakeet V3 + Sortformer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684264"/>
            <a:ext cx="658368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F46E5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2B2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models and merge</a:t>
            </a:r>
            <a:endParaRPr lang="en-US" sz="4267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3984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endParaRPr lang="en-US" sz="1467" dirty="0"/>
          </a:p>
        </p:txBody>
      </p:sp>
      <p:sp>
        <p:nvSpPr>
          <p:cNvPr id="5" name="model"/>
          <p:cNvSpPr/>
          <p:nvPr/>
        </p:nvSpPr>
        <p:spPr>
          <a:xfrm>
            <a:off x="609600" y="1645920"/>
            <a:ext cx="3291840" cy="2316480"/>
          </a:xfrm>
          <a:prstGeom prst="roundRect">
            <a:avLst>
              <a:gd name="adj" fmla="val 5263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3"/>
          <p:cNvSpPr txBox="1"/>
          <p:nvPr/>
        </p:nvSpPr>
        <p:spPr>
          <a:xfrm>
            <a:off x="853440" y="1889760"/>
            <a:ext cx="2804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2B2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Parakeet-TDT 0.6B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53440" y="2560320"/>
            <a:ext cx="28041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to words with timestamps</a:t>
            </a:r>
            <a:endParaRPr lang="en-US" sz="2000" dirty="0"/>
          </a:p>
        </p:txBody>
      </p:sp>
      <p:sp>
        <p:nvSpPr>
          <p:cNvPr id="8" name="model"/>
          <p:cNvSpPr/>
          <p:nvPr/>
        </p:nvSpPr>
        <p:spPr>
          <a:xfrm>
            <a:off x="4450080" y="1645920"/>
            <a:ext cx="3291840" cy="2316480"/>
          </a:xfrm>
          <a:prstGeom prst="roundRect">
            <a:avLst>
              <a:gd name="adj" fmla="val 5263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6"/>
          <p:cNvSpPr txBox="1"/>
          <p:nvPr/>
        </p:nvSpPr>
        <p:spPr>
          <a:xfrm>
            <a:off x="4693920" y="1889760"/>
            <a:ext cx="2804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0F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Sortformer 4spk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4693920" y="2560320"/>
            <a:ext cx="28041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spoke when, up to 4 speakers</a:t>
            </a:r>
            <a:endParaRPr lang="en-US" sz="2000" dirty="0"/>
          </a:p>
        </p:txBody>
      </p:sp>
      <p:sp>
        <p:nvSpPr>
          <p:cNvPr id="11" name="model"/>
          <p:cNvSpPr/>
          <p:nvPr/>
        </p:nvSpPr>
        <p:spPr>
          <a:xfrm>
            <a:off x="8290560" y="1645920"/>
            <a:ext cx="3291840" cy="2316480"/>
          </a:xfrm>
          <a:prstGeom prst="roundRect">
            <a:avLst>
              <a:gd name="adj" fmla="val 5263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9"/>
          <p:cNvSpPr txBox="1"/>
          <p:nvPr/>
        </p:nvSpPr>
        <p:spPr>
          <a:xfrm>
            <a:off x="8534400" y="1889760"/>
            <a:ext cx="2804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534400" y="2560320"/>
            <a:ext cx="28041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takes the speaker it overlaps most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986784" y="2621280"/>
            <a:ext cx="390144" cy="365760"/>
          </a:xfrm>
          <a:prstGeom prst="rightArrow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Shape 12"/>
          <p:cNvSpPr/>
          <p:nvPr/>
        </p:nvSpPr>
        <p:spPr>
          <a:xfrm>
            <a:off x="7827264" y="2621280"/>
            <a:ext cx="390144" cy="365760"/>
          </a:xfrm>
          <a:prstGeom prst="rightArrow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example"/>
          <p:cNvSpPr/>
          <p:nvPr/>
        </p:nvSpPr>
        <p:spPr>
          <a:xfrm>
            <a:off x="609600" y="4389120"/>
            <a:ext cx="10972800" cy="1645920"/>
          </a:xfrm>
          <a:prstGeom prst="roundRect">
            <a:avLst>
              <a:gd name="adj" fmla="val 7407"/>
            </a:avLst>
          </a:prstGeom>
          <a:solidFill>
            <a:srgbClr val="2B2A7A"/>
          </a:solidFill>
          <a:ln w="12700">
            <a:solidFill>
              <a:srgbClr val="2B2A7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4"/>
          <p:cNvSpPr txBox="1"/>
          <p:nvPr/>
        </p:nvSpPr>
        <p:spPr>
          <a:xfrm>
            <a:off x="975360" y="4511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867" dirty="0"/>
          </a:p>
        </p:txBody>
      </p:sp>
      <p:sp>
        <p:nvSpPr>
          <p:cNvPr id="18" name="Text 15"/>
          <p:cNvSpPr txBox="1"/>
          <p:nvPr/>
        </p:nvSpPr>
        <p:spPr>
          <a:xfrm>
            <a:off x="975360" y="4937760"/>
            <a:ext cx="10241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133" dirty="0">
                <a:solidFill>
                  <a:srgbClr val="D9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“hi, there, yes” + segments A (0–3 s), B (4–6 s)</a:t>
            </a:r>
            <a:endParaRPr lang="en-US" sz="2133" dirty="0"/>
          </a:p>
        </p:txBody>
      </p:sp>
      <p:sp>
        <p:nvSpPr>
          <p:cNvPr id="19" name="Text 16"/>
          <p:cNvSpPr txBox="1"/>
          <p:nvPr/>
        </p:nvSpPr>
        <p:spPr>
          <a:xfrm>
            <a:off x="975360" y="5425440"/>
            <a:ext cx="102412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hi there    B: yes</a:t>
            </a:r>
            <a:endParaRPr lang="en-US" sz="266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A5E9"/>
                </a:solidFill>
                <a:latin typeface="Segoe UI"/>
              </a:rPr>
              <a:t>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72A"/>
                </a:solidFill>
                <a:latin typeface="Segoe UI"/>
              </a:rPr>
              <a:t>GPU and system time utilisation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25296"/>
            <a:ext cx="1051560" cy="4114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08176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egoe UI"/>
              </a:rPr>
              <a:t>Measured </a:t>
            </a:r>
            <a:r>
              <a:rPr sz="1150" b="1">
                <a:solidFill>
                  <a:srgbClr val="0F172A"/>
                </a:solidFill>
                <a:latin typeface="Segoe UI"/>
              </a:rPr>
              <a:t>live, on the machine running the app</a:t>
            </a:r>
            <a:r>
              <a:rPr sz="1150" b="0">
                <a:solidFill>
                  <a:srgbClr val="64748B"/>
                </a:solidFill>
                <a:latin typeface="Segoe UI"/>
              </a:rPr>
              <a:t>. GPU values come from NVML (nvidia-ml-py) if installed, else from the nvidia-smi tool shipped with the NVIDIA driver; CPU and RAM come from psutil. Anything unavailable shows “n/a” — monitoring never breaks a job.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29968"/>
            <a:ext cx="177393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2029968"/>
            <a:ext cx="1773936" cy="5029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176272"/>
            <a:ext cx="151790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GPU utilisation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EA5E9"/>
                </a:solidFill>
                <a:latin typeface="Segoe UI"/>
              </a:rPr>
              <a:t>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CBD5E1"/>
                </a:solidFill>
                <a:latin typeface="Consolas"/>
              </a:rPr>
              <a:t>live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2029968"/>
            <a:ext cx="177393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23160" y="2029968"/>
            <a:ext cx="1773936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51176" y="2176272"/>
            <a:ext cx="151790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GPU memory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4F46E5"/>
                </a:solidFill>
                <a:latin typeface="Segoe UI"/>
              </a:rPr>
              <a:t>MB used / total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CBD5E1"/>
                </a:solidFill>
                <a:latin typeface="Consolas"/>
              </a:rPr>
              <a:t>live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2029968"/>
            <a:ext cx="177393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9392" y="2029968"/>
            <a:ext cx="1773936" cy="502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07407" y="2176272"/>
            <a:ext cx="151790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GPU temperature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D97706"/>
                </a:solidFill>
                <a:latin typeface="Segoe UI"/>
              </a:rPr>
              <a:t>°C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CBD5E1"/>
                </a:solidFill>
                <a:latin typeface="Consolas"/>
              </a:rPr>
              <a:t>live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3" y="2029968"/>
            <a:ext cx="177393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35623" y="2029968"/>
            <a:ext cx="1773936" cy="502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39" y="2176272"/>
            <a:ext cx="151790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GPU power draw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11D48"/>
                </a:solidFill>
                <a:latin typeface="Segoe UI"/>
              </a:rPr>
              <a:t>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CBD5E1"/>
                </a:solidFill>
                <a:latin typeface="Consolas"/>
              </a:rPr>
              <a:t>live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5" y="2029968"/>
            <a:ext cx="177393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91855" y="2029968"/>
            <a:ext cx="1773936" cy="502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19871" y="2176272"/>
            <a:ext cx="151790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CPU load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891B2"/>
                </a:solidFill>
                <a:latin typeface="Segoe UI"/>
              </a:rPr>
              <a:t>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CBD5E1"/>
                </a:solidFill>
                <a:latin typeface="Consolas"/>
              </a:rPr>
              <a:t>live 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48087" y="2029968"/>
            <a:ext cx="1773936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848087" y="2029968"/>
            <a:ext cx="1773936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76103" y="2176272"/>
            <a:ext cx="1517904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F172A"/>
                </a:solidFill>
                <a:latin typeface="Segoe UI"/>
              </a:rPr>
              <a:t>System memory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10B981"/>
                </a:solidFill>
                <a:latin typeface="Segoe UI"/>
              </a:rPr>
              <a:t>% and GB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CBD5E1"/>
                </a:solidFill>
                <a:latin typeface="Consolas"/>
              </a:rPr>
              <a:t>live value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401568"/>
            <a:ext cx="11055096" cy="457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547872"/>
            <a:ext cx="1106424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F172A"/>
                </a:solidFill>
                <a:latin typeface="Segoe UI"/>
              </a:rPr>
              <a:t>How the numbers are produced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▪  Sampling: a background thread samples every MONITOR_INTERVAL = 0.5 s (at least 1.0 s when it spawns nvidia-smi, which is slower than NVML).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▪  Aggregates: average and peak are kept for every metric, so the page can show now / average / peak side by side.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▪  Per-batch GPU cost: each batch gets its own row — batch #, files, audio sec, padded sec, ASR wall time, diarization wall time, peak VRAM (torch.cuda.max_memory_allocated()).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▪  Per-file GPU attribution: a batch runs on the GPU together, so each file's transcribe and speaker times are its share of the batch wall time, split by audio length.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▪  Rendered as KPI cards (GPU %, memory gauge, temperature · power, CPU · RAM), two live line charts (utilisation %; GPU memory + RAM in GB) and a per-batch table.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199632"/>
            <a:ext cx="1106424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Segoe UI"/>
              </a:rPr>
              <a:t>Honest reading:  </a:t>
            </a:r>
            <a:r>
              <a:rPr sz="1100" b="0">
                <a:solidFill>
                  <a:srgbClr val="64748B"/>
                </a:solidFill>
                <a:latin typeface="Segoe UI"/>
              </a:rPr>
              <a:t>these are instantaneous measurements of your own hardware. The repository contains no reference benchmark — no measured RTF, WER, latency or utilisation baseline — so no such number appears anywhere in this deck.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6684264"/>
            <a:ext cx="82296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MultiStream STT Studio — Parakeet V3 + Sortformer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684264"/>
            <a:ext cx="658368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F46E5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8467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F46E5"/>
                </a:solidFill>
                <a:latin typeface="Segoe UI"/>
              </a:rPr>
              <a:t>THROUGHPUT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72A"/>
                </a:solidFill>
                <a:latin typeface="Segoe UI"/>
              </a:rPr>
              <a:t>Batch inference and GPU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25296"/>
            <a:ext cx="1051560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08176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A batch costs what its longest file costs, times the number of files in it — because every file is padded to that length on the GPU.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5358384" cy="2139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975104"/>
            <a:ext cx="4992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11D48"/>
                </a:solidFill>
                <a:latin typeface="Segoe UI"/>
              </a:rPr>
              <a:t>Unsorted batch  </a:t>
            </a:r>
            <a:r>
              <a:rPr sz="1100" b="0">
                <a:solidFill>
                  <a:srgbClr val="64748B"/>
                </a:solidFill>
                <a:latin typeface="Segoe UI"/>
              </a:rPr>
              <a:t>— 3 short files trapped with one long 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3465576"/>
            <a:ext cx="512064" cy="17373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3685032"/>
            <a:ext cx="621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5 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36192" y="3449116"/>
            <a:ext cx="512064" cy="19019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81328" y="3685032"/>
            <a:ext cx="621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6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2848" y="3432657"/>
            <a:ext cx="512064" cy="20665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57984" y="3685032"/>
            <a:ext cx="621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7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9503" y="2468880"/>
            <a:ext cx="512064" cy="11704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34639" y="3685032"/>
            <a:ext cx="621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60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230428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11D48"/>
                </a:solidFill>
                <a:latin typeface="Consolas"/>
              </a:rPr>
              <a:t>padded cost = 4 × 60 = 240 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847088"/>
            <a:ext cx="5358384" cy="2139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1975104"/>
            <a:ext cx="4992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Segoe UI"/>
              </a:rPr>
              <a:t>Sorted batching  </a:t>
            </a:r>
            <a:r>
              <a:rPr sz="1100" b="0">
                <a:solidFill>
                  <a:srgbClr val="64748B"/>
                </a:solidFill>
                <a:latin typeface="Segoe UI"/>
              </a:rPr>
              <a:t>— similar lengths together, the long file alone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56248" y="2468880"/>
            <a:ext cx="512064" cy="11704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01384" y="3685032"/>
            <a:ext cx="621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60 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2904" y="3465576"/>
            <a:ext cx="512064" cy="17373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78040" y="3685032"/>
            <a:ext cx="621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5 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3449116"/>
            <a:ext cx="512064" cy="19019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54696" y="3685032"/>
            <a:ext cx="621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6 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86216" y="3432657"/>
            <a:ext cx="512064" cy="20665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31352" y="3685032"/>
            <a:ext cx="621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7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230428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Consolas"/>
              </a:rPr>
              <a:t>cost = 1 × 60  +  3 × 7 = 81 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151376"/>
            <a:ext cx="267004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4151376"/>
            <a:ext cx="2670048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279392"/>
            <a:ext cx="2340864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Batch limit from VRAM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VRAM (GB) × 300 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24 GB GPU → 7200 s = 120 min of padded audio per batch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28416" y="4151376"/>
            <a:ext cx="267004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328416" y="4151376"/>
            <a:ext cx="2670048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93008" y="4279392"/>
            <a:ext cx="2340864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Bounds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600 s ≤ limit ≤ 43200 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CPU_BATCH_SECONDS = 1800 s when there is no CUDA GPU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89904" y="4151376"/>
            <a:ext cx="267004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089904" y="4151376"/>
            <a:ext cx="2670048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54496" y="4279392"/>
            <a:ext cx="2340864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Files per batch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MAX_BATCH_FILES = 30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and never more than MAX_FILES = 30 per run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51392" y="4151376"/>
            <a:ext cx="267004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851392" y="4151376"/>
            <a:ext cx="2670048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15984" y="4279392"/>
            <a:ext cx="2340864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4F46E5"/>
                </a:solidFill>
                <a:latin typeface="Segoe UI"/>
              </a:rPr>
              <a:t>Prefetch &amp; decode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PREFETCH_FACTOR = 2.0
DECODE_WORKERS = 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decode up to 2 batches ahead; 8 ffmpeg processes at once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5683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8" y="6684264"/>
            <a:ext cx="82296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MultiStream STT Studio — Parakeet V3 + Sortformer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684264"/>
            <a:ext cx="658368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F46E5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2B2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smart batching</a:t>
            </a:r>
            <a:endParaRPr lang="en-US" sz="4267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3984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endParaRPr lang="en-US" sz="1467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158496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Unsorted batch: 4 × 60 s</a:t>
            </a:r>
            <a:endParaRPr lang="en-US" sz="1867" dirty="0"/>
          </a:p>
        </p:txBody>
      </p:sp>
      <p:sp>
        <p:nvSpPr>
          <p:cNvPr id="6" name="bar"/>
          <p:cNvSpPr/>
          <p:nvPr/>
        </p:nvSpPr>
        <p:spPr>
          <a:xfrm>
            <a:off x="609600" y="2011680"/>
            <a:ext cx="8534400" cy="670560"/>
          </a:xfrm>
          <a:prstGeom prst="roundRect">
            <a:avLst>
              <a:gd name="adj" fmla="val 18182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4"/>
          <p:cNvSpPr txBox="1"/>
          <p:nvPr/>
        </p:nvSpPr>
        <p:spPr>
          <a:xfrm>
            <a:off x="9387840" y="2011680"/>
            <a:ext cx="1828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 s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0960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b="1" dirty="0">
                <a:solidFill>
                  <a:srgbClr val="0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Sorted: long file alone, short files together</a:t>
            </a:r>
            <a:endParaRPr lang="en-US" sz="1867" dirty="0"/>
          </a:p>
        </p:txBody>
      </p:sp>
      <p:sp>
        <p:nvSpPr>
          <p:cNvPr id="9" name="bar"/>
          <p:cNvSpPr/>
          <p:nvPr/>
        </p:nvSpPr>
        <p:spPr>
          <a:xfrm>
            <a:off x="609600" y="3352800"/>
            <a:ext cx="2877312" cy="670560"/>
          </a:xfrm>
          <a:prstGeom prst="roundRect">
            <a:avLst>
              <a:gd name="adj" fmla="val 18182"/>
            </a:avLst>
          </a:prstGeom>
          <a:solidFill>
            <a:srgbClr val="0F9D8F"/>
          </a:solidFill>
          <a:ln w="12700">
            <a:solidFill>
              <a:srgbClr val="0F9D8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7"/>
          <p:cNvSpPr txBox="1"/>
          <p:nvPr/>
        </p:nvSpPr>
        <p:spPr>
          <a:xfrm>
            <a:off x="3718560" y="3352800"/>
            <a:ext cx="1828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F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 s</a:t>
            </a:r>
            <a:endParaRPr lang="en-US" sz="3200" dirty="0"/>
          </a:p>
        </p:txBody>
      </p:sp>
      <p:sp>
        <p:nvSpPr>
          <p:cNvPr id="11" name="knob"/>
          <p:cNvSpPr/>
          <p:nvPr/>
        </p:nvSpPr>
        <p:spPr>
          <a:xfrm>
            <a:off x="609600" y="4511040"/>
            <a:ext cx="3291840" cy="1524000"/>
          </a:xfrm>
          <a:prstGeom prst="roundRect">
            <a:avLst>
              <a:gd name="adj" fmla="val 8000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9"/>
          <p:cNvSpPr txBox="1"/>
          <p:nvPr/>
        </p:nvSpPr>
        <p:spPr>
          <a:xfrm>
            <a:off x="853440" y="4657344"/>
            <a:ext cx="2804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b="1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limit</a:t>
            </a:r>
            <a:endParaRPr lang="en-US" sz="1867" dirty="0"/>
          </a:p>
        </p:txBody>
      </p:sp>
      <p:sp>
        <p:nvSpPr>
          <p:cNvPr id="13" name="Text 10"/>
          <p:cNvSpPr txBox="1"/>
          <p:nvPr/>
        </p:nvSpPr>
        <p:spPr>
          <a:xfrm>
            <a:off x="853440" y="5181600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67" b="1" dirty="0">
                <a:solidFill>
                  <a:srgbClr val="2B2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VRAM (GB) × 300 s</a:t>
            </a:r>
            <a:endParaRPr lang="en-US" sz="2267" dirty="0"/>
          </a:p>
        </p:txBody>
      </p:sp>
      <p:sp>
        <p:nvSpPr>
          <p:cNvPr id="14" name="knob"/>
          <p:cNvSpPr/>
          <p:nvPr/>
        </p:nvSpPr>
        <p:spPr>
          <a:xfrm>
            <a:off x="4450080" y="4511040"/>
            <a:ext cx="3291840" cy="1524000"/>
          </a:xfrm>
          <a:prstGeom prst="roundRect">
            <a:avLst>
              <a:gd name="adj" fmla="val 8000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2"/>
          <p:cNvSpPr txBox="1"/>
          <p:nvPr/>
        </p:nvSpPr>
        <p:spPr>
          <a:xfrm>
            <a:off x="4693920" y="4657344"/>
            <a:ext cx="2804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b="1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memory</a:t>
            </a:r>
            <a:endParaRPr lang="en-US" sz="1867" dirty="0"/>
          </a:p>
        </p:txBody>
      </p:sp>
      <p:sp>
        <p:nvSpPr>
          <p:cNvPr id="16" name="Text 13"/>
          <p:cNvSpPr txBox="1"/>
          <p:nvPr/>
        </p:nvSpPr>
        <p:spPr>
          <a:xfrm>
            <a:off x="4693920" y="5181600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67" b="1" dirty="0">
                <a:solidFill>
                  <a:srgbClr val="2B2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Halve, retry, remember</a:t>
            </a:r>
            <a:endParaRPr lang="en-US" sz="2267" dirty="0"/>
          </a:p>
        </p:txBody>
      </p:sp>
      <p:sp>
        <p:nvSpPr>
          <p:cNvPr id="17" name="knob"/>
          <p:cNvSpPr/>
          <p:nvPr/>
        </p:nvSpPr>
        <p:spPr>
          <a:xfrm>
            <a:off x="8290560" y="4511040"/>
            <a:ext cx="3291840" cy="1524000"/>
          </a:xfrm>
          <a:prstGeom prst="roundRect">
            <a:avLst>
              <a:gd name="adj" fmla="val 8000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5"/>
          <p:cNvSpPr txBox="1"/>
          <p:nvPr/>
        </p:nvSpPr>
        <p:spPr>
          <a:xfrm>
            <a:off x="8534400" y="4657344"/>
            <a:ext cx="2804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b="1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Prefetch</a:t>
            </a:r>
            <a:endParaRPr lang="en-US" sz="1867" dirty="0"/>
          </a:p>
        </p:txBody>
      </p:sp>
      <p:sp>
        <p:nvSpPr>
          <p:cNvPr id="19" name="Text 16"/>
          <p:cNvSpPr txBox="1"/>
          <p:nvPr/>
        </p:nvSpPr>
        <p:spPr>
          <a:xfrm>
            <a:off x="8534400" y="5181600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67" b="1" dirty="0">
                <a:solidFill>
                  <a:srgbClr val="2B2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 2 batches ahead</a:t>
            </a:r>
            <a:endParaRPr lang="en-US" sz="226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2B2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deliverables and limits</a:t>
            </a:r>
            <a:endParaRPr lang="en-US" sz="4267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3984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67" dirty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67" dirty="0"/>
          </a:p>
        </p:txBody>
      </p:sp>
      <p:sp>
        <p:nvSpPr>
          <p:cNvPr id="5" name="deliv"/>
          <p:cNvSpPr/>
          <p:nvPr/>
        </p:nvSpPr>
        <p:spPr>
          <a:xfrm>
            <a:off x="609600" y="1706880"/>
            <a:ext cx="2804160" cy="1950720"/>
          </a:xfrm>
          <a:prstGeom prst="roundRect">
            <a:avLst>
              <a:gd name="adj" fmla="val 6250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3"/>
          <p:cNvSpPr txBox="1"/>
          <p:nvPr/>
        </p:nvSpPr>
        <p:spPr>
          <a:xfrm>
            <a:off x="853440" y="1950720"/>
            <a:ext cx="231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2B2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.txt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53440" y="2865120"/>
            <a:ext cx="231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per file</a:t>
            </a:r>
            <a:endParaRPr lang="en-US" sz="2000" dirty="0"/>
          </a:p>
        </p:txBody>
      </p:sp>
      <p:sp>
        <p:nvSpPr>
          <p:cNvPr id="8" name="deliv"/>
          <p:cNvSpPr/>
          <p:nvPr/>
        </p:nvSpPr>
        <p:spPr>
          <a:xfrm>
            <a:off x="3596640" y="1706880"/>
            <a:ext cx="2804160" cy="1950720"/>
          </a:xfrm>
          <a:prstGeom prst="roundRect">
            <a:avLst>
              <a:gd name="adj" fmla="val 6250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6"/>
          <p:cNvSpPr txBox="1"/>
          <p:nvPr/>
        </p:nvSpPr>
        <p:spPr>
          <a:xfrm>
            <a:off x="3840480" y="1950720"/>
            <a:ext cx="231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2B2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.srt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2865120"/>
            <a:ext cx="231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Subtitles per file</a:t>
            </a:r>
            <a:endParaRPr lang="en-US" sz="2000" dirty="0"/>
          </a:p>
        </p:txBody>
      </p:sp>
      <p:sp>
        <p:nvSpPr>
          <p:cNvPr id="11" name="deliv"/>
          <p:cNvSpPr/>
          <p:nvPr/>
        </p:nvSpPr>
        <p:spPr>
          <a:xfrm>
            <a:off x="609600" y="3901440"/>
            <a:ext cx="2804160" cy="1950720"/>
          </a:xfrm>
          <a:prstGeom prst="roundRect">
            <a:avLst>
              <a:gd name="adj" fmla="val 6250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9"/>
          <p:cNvSpPr txBox="1"/>
          <p:nvPr/>
        </p:nvSpPr>
        <p:spPr>
          <a:xfrm>
            <a:off x="853440" y="4145280"/>
            <a:ext cx="231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2B2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.zip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853440" y="5059680"/>
            <a:ext cx="231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download</a:t>
            </a:r>
            <a:endParaRPr lang="en-US" sz="2000" dirty="0"/>
          </a:p>
        </p:txBody>
      </p:sp>
      <p:sp>
        <p:nvSpPr>
          <p:cNvPr id="14" name="deliv"/>
          <p:cNvSpPr/>
          <p:nvPr/>
        </p:nvSpPr>
        <p:spPr>
          <a:xfrm>
            <a:off x="3596640" y="3901440"/>
            <a:ext cx="2804160" cy="1950720"/>
          </a:xfrm>
          <a:prstGeom prst="roundRect">
            <a:avLst>
              <a:gd name="adj" fmla="val 6250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2"/>
          <p:cNvSpPr txBox="1"/>
          <p:nvPr/>
        </p:nvSpPr>
        <p:spPr>
          <a:xfrm>
            <a:off x="3840480" y="4145280"/>
            <a:ext cx="231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2B2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.csv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5059680"/>
            <a:ext cx="23164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Per-file timing report</a:t>
            </a:r>
            <a:endParaRPr lang="en-US" sz="2000" dirty="0"/>
          </a:p>
        </p:txBody>
      </p:sp>
      <p:sp>
        <p:nvSpPr>
          <p:cNvPr id="17" name="limits"/>
          <p:cNvSpPr/>
          <p:nvPr/>
        </p:nvSpPr>
        <p:spPr>
          <a:xfrm>
            <a:off x="6705600" y="1706880"/>
            <a:ext cx="4876800" cy="4145280"/>
          </a:xfrm>
          <a:prstGeom prst="roundRect">
            <a:avLst>
              <a:gd name="adj" fmla="val 2941"/>
            </a:avLst>
          </a:prstGeom>
          <a:solidFill>
            <a:srgbClr val="EEF0FA"/>
          </a:solidFill>
          <a:ln w="12700">
            <a:solidFill>
              <a:srgbClr val="EEF0F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5"/>
          <p:cNvSpPr txBox="1"/>
          <p:nvPr/>
        </p:nvSpPr>
        <p:spPr>
          <a:xfrm>
            <a:off x="7010400" y="1889760"/>
            <a:ext cx="4267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7010400" y="2560320"/>
            <a:ext cx="4267200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in the repo: no speed or accuracy claims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4 speakers per file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European languages only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3854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"/>
              </a:rPr>
              <a:t>BEING HONEST ABOUT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881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172A"/>
                </a:solidFill>
                <a:latin typeface="Segoe UI"/>
              </a:rPr>
              <a:t>Limits and considerations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25296"/>
            <a:ext cx="1051560" cy="411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5358384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0292" cy="138988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682495"/>
            <a:ext cx="49560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Language coverage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Parakeet-TDT 0.6B v3 supports 25 European languages. Urdu, Hindi, Arabic and most Asian languages are NOT supported and produce wrong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517904"/>
            <a:ext cx="5358384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72784" y="1517904"/>
            <a:ext cx="50292" cy="13898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682495"/>
            <a:ext cx="49560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Speaker count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Sortformer handles up to 4 speakers per file. Overlapping speech and noisy audio reduce accuracy.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90672"/>
            <a:ext cx="5358384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3090672"/>
            <a:ext cx="50292" cy="13898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255264"/>
            <a:ext cx="49560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0F172A"/>
                </a:solidFill>
                <a:latin typeface="Segoe UI"/>
              </a:rPr>
              <a:t>No NVIDIA GPU?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It still runs on the CPU, many times slower; the dashboard then shows CPU and RAM only, and batches use CPU_BATCH_SECONDS = 1800 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3090672"/>
            <a:ext cx="5358384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2784" y="3090672"/>
            <a:ext cx="50292" cy="13898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3255264"/>
            <a:ext cx="495604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 i="0" dirty="0">
                <a:solidFill>
                  <a:srgbClr val="0F172A"/>
                </a:solidFill>
                <a:latin typeface="Segoe UI"/>
              </a:rPr>
              <a:t>One GPU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64748B"/>
                </a:solidFill>
                <a:latin typeface="Segoe UI"/>
              </a:rPr>
              <a:t>A single GPU is used. Several browser tabs can share it safely because a lock allows only one batch on the GPU at a time.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6684264"/>
            <a:ext cx="822960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Segoe UI"/>
              </a:rPr>
              <a:t>MultiStream STT Studio — Parakeet V3 + Sortformer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684264"/>
            <a:ext cx="65836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 dirty="0" smtClean="0">
                <a:solidFill>
                  <a:srgbClr val="4F46E5"/>
                </a:solidFill>
                <a:latin typeface="Segoe UI"/>
              </a:rPr>
              <a:t>1</a:t>
            </a:r>
            <a:r>
              <a:rPr lang="en-US" sz="900" b="1" i="0" dirty="0" smtClean="0">
                <a:solidFill>
                  <a:srgbClr val="4F46E5"/>
                </a:solidFill>
                <a:latin typeface="Segoe UI"/>
              </a:rPr>
              <a:t>1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endParaRPr sz="900" b="1" i="0" dirty="0">
              <a:solidFill>
                <a:srgbClr val="4F46E5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Conclusion: key takeaways</a:t>
            </a:r>
            <a:endParaRPr lang="en-US" sz="4267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33984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1467" dirty="0" smtClean="0">
                <a:solidFill>
                  <a:srgbClr val="5B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67" dirty="0"/>
          </a:p>
        </p:txBody>
      </p:sp>
      <p:sp>
        <p:nvSpPr>
          <p:cNvPr id="4" name="takeaway"/>
          <p:cNvSpPr/>
          <p:nvPr/>
        </p:nvSpPr>
        <p:spPr>
          <a:xfrm>
            <a:off x="609600" y="1706880"/>
            <a:ext cx="5364480" cy="1584960"/>
          </a:xfrm>
          <a:prstGeom prst="roundRect">
            <a:avLst>
              <a:gd name="adj" fmla="val 7692"/>
            </a:avLst>
          </a:prstGeom>
          <a:solidFill>
            <a:srgbClr val="3A3990"/>
          </a:solidFill>
          <a:ln w="12700">
            <a:solidFill>
              <a:srgbClr val="3A39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914400" y="1950720"/>
            <a:ext cx="4754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models, one pipeline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D9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from Parakeet, speakers from Sortformer.</a:t>
            </a:r>
            <a:endParaRPr lang="en-US" sz="2000" dirty="0"/>
          </a:p>
        </p:txBody>
      </p:sp>
      <p:sp>
        <p:nvSpPr>
          <p:cNvPr id="7" name="takeaway"/>
          <p:cNvSpPr/>
          <p:nvPr/>
        </p:nvSpPr>
        <p:spPr>
          <a:xfrm>
            <a:off x="6217920" y="1706880"/>
            <a:ext cx="5364480" cy="1584960"/>
          </a:xfrm>
          <a:prstGeom prst="roundRect">
            <a:avLst>
              <a:gd name="adj" fmla="val 7692"/>
            </a:avLst>
          </a:prstGeom>
          <a:solidFill>
            <a:srgbClr val="3A3990"/>
          </a:solidFill>
          <a:ln w="12700">
            <a:solidFill>
              <a:srgbClr val="3A39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6522720" y="1950720"/>
            <a:ext cx="4754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Batching by design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522720" y="2560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D9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Length-sorted batches sized by VRAM.</a:t>
            </a:r>
            <a:endParaRPr lang="en-US" sz="2000" dirty="0"/>
          </a:p>
        </p:txBody>
      </p:sp>
      <p:sp>
        <p:nvSpPr>
          <p:cNvPr id="10" name="takeaway"/>
          <p:cNvSpPr/>
          <p:nvPr/>
        </p:nvSpPr>
        <p:spPr>
          <a:xfrm>
            <a:off x="609600" y="3474720"/>
            <a:ext cx="5364480" cy="1584960"/>
          </a:xfrm>
          <a:prstGeom prst="roundRect">
            <a:avLst>
              <a:gd name="adj" fmla="val 7692"/>
            </a:avLst>
          </a:prstGeom>
          <a:solidFill>
            <a:srgbClr val="3A3990"/>
          </a:solidFill>
          <a:ln w="12700">
            <a:solidFill>
              <a:srgbClr val="3A39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914400" y="3718560"/>
            <a:ext cx="4754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time is accounted for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328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D9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Per-file timing and peak VRAM are recorded.</a:t>
            </a:r>
            <a:endParaRPr lang="en-US" sz="2000" dirty="0"/>
          </a:p>
        </p:txBody>
      </p:sp>
      <p:sp>
        <p:nvSpPr>
          <p:cNvPr id="13" name="takeaway"/>
          <p:cNvSpPr/>
          <p:nvPr/>
        </p:nvSpPr>
        <p:spPr>
          <a:xfrm>
            <a:off x="6217920" y="3474720"/>
            <a:ext cx="5364480" cy="1584960"/>
          </a:xfrm>
          <a:prstGeom prst="roundRect">
            <a:avLst>
              <a:gd name="adj" fmla="val 7692"/>
            </a:avLst>
          </a:prstGeom>
          <a:solidFill>
            <a:srgbClr val="3A3990"/>
          </a:solidFill>
          <a:ln w="12700">
            <a:solidFill>
              <a:srgbClr val="3A399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6522720" y="3718560"/>
            <a:ext cx="4754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is contained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522720" y="4328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rgbClr val="D9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Per-file errors; 44 tests lock it in.</a:t>
            </a:r>
            <a:endParaRPr lang="en-US" sz="2000" dirty="0"/>
          </a:p>
        </p:txBody>
      </p:sp>
      <p:sp>
        <p:nvSpPr>
          <p:cNvPr id="78" name="Text 0">
            <a:extLst>
              <a:ext uri="{FF2B5EF4-FFF2-40B4-BE49-F238E27FC236}">
                <a16:creationId xmlns:a16="http://schemas.microsoft.com/office/drawing/2014/main" id="{AD94B160-2B99-DAE0-6B2F-160516066A23}"/>
              </a:ext>
            </a:extLst>
          </p:cNvPr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Conclusion: key takeaways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1748</Words>
  <Application>Microsoft Office PowerPoint</Application>
  <PresentationFormat>Widescreen</PresentationFormat>
  <Paragraphs>221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Cambria</vt:lpstr>
      <vt:lpstr>Consolas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22</cp:revision>
  <dcterms:created xsi:type="dcterms:W3CDTF">2013-01-27T09:14:16Z</dcterms:created>
  <dcterms:modified xsi:type="dcterms:W3CDTF">2026-10-04T07:47:33Z</dcterms:modified>
  <cp:category/>
</cp:coreProperties>
</file>